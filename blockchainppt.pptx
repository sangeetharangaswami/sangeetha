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AA413C9D-45C5-480C-ACB2-5801CA5EDD5D}" type="datetimeFigureOut">
              <a:rPr lang="en-IN" smtClean="0"/>
              <a:t>19-12-2019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F82BE8A9-F070-4D95-B3F5-44D37AF9483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13C9D-45C5-480C-ACB2-5801CA5EDD5D}" type="datetimeFigureOut">
              <a:rPr lang="en-IN" smtClean="0"/>
              <a:t>19-12-2019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BE8A9-F070-4D95-B3F5-44D37AF9483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13C9D-45C5-480C-ACB2-5801CA5EDD5D}" type="datetimeFigureOut">
              <a:rPr lang="en-IN" smtClean="0"/>
              <a:t>19-12-2019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BE8A9-F070-4D95-B3F5-44D37AF9483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13C9D-45C5-480C-ACB2-5801CA5EDD5D}" type="datetimeFigureOut">
              <a:rPr lang="en-IN" smtClean="0"/>
              <a:t>19-12-2019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BE8A9-F070-4D95-B3F5-44D37AF9483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13C9D-45C5-480C-ACB2-5801CA5EDD5D}" type="datetimeFigureOut">
              <a:rPr lang="en-IN" smtClean="0"/>
              <a:t>19-12-2019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BE8A9-F070-4D95-B3F5-44D37AF9483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13C9D-45C5-480C-ACB2-5801CA5EDD5D}" type="datetimeFigureOut">
              <a:rPr lang="en-IN" smtClean="0"/>
              <a:t>19-12-2019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BE8A9-F070-4D95-B3F5-44D37AF9483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13C9D-45C5-480C-ACB2-5801CA5EDD5D}" type="datetimeFigureOut">
              <a:rPr lang="en-IN" smtClean="0"/>
              <a:t>19-12-2019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BE8A9-F070-4D95-B3F5-44D37AF9483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13C9D-45C5-480C-ACB2-5801CA5EDD5D}" type="datetimeFigureOut">
              <a:rPr lang="en-IN" smtClean="0"/>
              <a:t>19-12-2019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BE8A9-F070-4D95-B3F5-44D37AF9483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13C9D-45C5-480C-ACB2-5801CA5EDD5D}" type="datetimeFigureOut">
              <a:rPr lang="en-IN" smtClean="0"/>
              <a:t>19-12-2019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BE8A9-F070-4D95-B3F5-44D37AF9483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13C9D-45C5-480C-ACB2-5801CA5EDD5D}" type="datetimeFigureOut">
              <a:rPr lang="en-IN" smtClean="0"/>
              <a:t>19-12-2019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BE8A9-F070-4D95-B3F5-44D37AF9483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13C9D-45C5-480C-ACB2-5801CA5EDD5D}" type="datetimeFigureOut">
              <a:rPr lang="en-IN" smtClean="0"/>
              <a:t>19-12-2019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BE8A9-F070-4D95-B3F5-44D37AF9483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13C9D-45C5-480C-ACB2-5801CA5EDD5D}" type="datetimeFigureOut">
              <a:rPr lang="en-IN" smtClean="0"/>
              <a:t>19-12-2019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BE8A9-F070-4D95-B3F5-44D37AF94832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13C9D-45C5-480C-ACB2-5801CA5EDD5D}" type="datetimeFigureOut">
              <a:rPr lang="en-IN" smtClean="0"/>
              <a:t>19-12-2019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BE8A9-F070-4D95-B3F5-44D37AF9483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13C9D-45C5-480C-ACB2-5801CA5EDD5D}" type="datetimeFigureOut">
              <a:rPr lang="en-IN" smtClean="0"/>
              <a:t>19-12-2019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BE8A9-F070-4D95-B3F5-44D37AF9483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13C9D-45C5-480C-ACB2-5801CA5EDD5D}" type="datetimeFigureOut">
              <a:rPr lang="en-IN" smtClean="0"/>
              <a:t>19-12-2019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BE8A9-F070-4D95-B3F5-44D37AF9483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13C9D-45C5-480C-ACB2-5801CA5EDD5D}" type="datetimeFigureOut">
              <a:rPr lang="en-IN" smtClean="0"/>
              <a:t>19-12-2019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BE8A9-F070-4D95-B3F5-44D37AF9483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13C9D-45C5-480C-ACB2-5801CA5EDD5D}" type="datetimeFigureOut">
              <a:rPr lang="en-IN" smtClean="0"/>
              <a:t>19-12-2019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BE8A9-F070-4D95-B3F5-44D37AF9483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13C9D-45C5-480C-ACB2-5801CA5EDD5D}" type="datetimeFigureOut">
              <a:rPr lang="en-IN" smtClean="0"/>
              <a:t>19-12-2019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2BE8A9-F070-4D95-B3F5-44D37AF94832}" type="slidenum">
              <a:rPr lang="en-IN" smtClean="0"/>
              <a:t>‹#›</a:t>
            </a:fld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3805" y="1122680"/>
            <a:ext cx="9434195" cy="23876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  FOOD SAFETY</a:t>
            </a: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        USING </a:t>
            </a: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BLOCKCHAIN TECHNOLOGY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5" y="3602355"/>
            <a:ext cx="9613900" cy="222440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							</a:t>
            </a:r>
            <a:r>
              <a:rPr lang="en-US" b="1" dirty="0">
                <a:ln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By</a:t>
            </a:r>
          </a:p>
          <a:p>
            <a:pPr algn="ctr"/>
            <a:r>
              <a:rPr lang="en-US" b="1" dirty="0">
                <a:ln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							M. Sangeetha</a:t>
            </a:r>
          </a:p>
          <a:p>
            <a:pPr algn="ctr"/>
            <a:r>
              <a:rPr lang="en-US" b="1" dirty="0">
                <a:ln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                                                                                          (179X1A0582)</a:t>
            </a:r>
          </a:p>
          <a:p>
            <a:pPr algn="ctr"/>
            <a:r>
              <a:rPr lang="en-US" b="1" dirty="0">
                <a:ln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							k. Haritha</a:t>
            </a:r>
          </a:p>
          <a:p>
            <a:pPr algn="ctr"/>
            <a:r>
              <a:rPr lang="en-US" altLang="en-IN" b="1" dirty="0">
                <a:ln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                                                                                                      (179X1A0549)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what is blockchain ?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2249487"/>
            <a:ext cx="5578984" cy="3541714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>
                <a:solidFill>
                  <a:schemeClr val="bg1"/>
                </a:solidFill>
              </a:rPr>
              <a:t>Originally block chain is a growing list of records, called blocks, that are linked using cryptography. Each block contains a cryptographic hash of the previous block, a timestamp, and transaction data. By design, a blockchain is resistant to modification of the data. 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561" y="2370338"/>
            <a:ext cx="5060271" cy="30716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Applications : 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Asset Management: Trade Processing and Settlement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Blockchain Internet-of-Things (IoT)</a:t>
            </a:r>
          </a:p>
          <a:p>
            <a:r>
              <a:rPr lang="en-IN" dirty="0">
                <a:solidFill>
                  <a:schemeClr val="bg1"/>
                </a:solidFill>
              </a:rPr>
              <a:t>Payments: Cross-Border Payments</a:t>
            </a:r>
          </a:p>
          <a:p>
            <a:r>
              <a:rPr lang="en-IN" dirty="0">
                <a:solidFill>
                  <a:schemeClr val="bg1"/>
                </a:solidFill>
              </a:rPr>
              <a:t>Blockchain Healthcare</a:t>
            </a:r>
          </a:p>
          <a:p>
            <a:r>
              <a:rPr lang="en-IN" dirty="0">
                <a:solidFill>
                  <a:schemeClr val="bg1"/>
                </a:solidFill>
              </a:rPr>
              <a:t>Insurance: Claims processing</a:t>
            </a:r>
          </a:p>
          <a:p>
            <a:r>
              <a:rPr lang="en-IN" dirty="0">
                <a:solidFill>
                  <a:schemeClr val="bg1"/>
                </a:solidFill>
              </a:rPr>
              <a:t>Personal Identification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80" y="20320"/>
            <a:ext cx="12197715" cy="6817995"/>
          </a:xfrm>
          <a:prstGeom prst="rect">
            <a:avLst/>
          </a:prstGeom>
        </p:spPr>
      </p:pic>
      <p:sp>
        <p:nvSpPr>
          <p:cNvPr id="4" name="AutoShape 2" descr="Image result for blockchain applications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Food safety</a:t>
            </a:r>
            <a:r>
              <a:rPr lang="en-US" b="1" dirty="0"/>
              <a:t> </a:t>
            </a:r>
            <a:endParaRPr lang="en-IN" b="1" dirty="0"/>
          </a:p>
        </p:txBody>
      </p:sp>
      <p:sp>
        <p:nvSpPr>
          <p:cNvPr id="4" name="AutoShape 2" descr="Image result for blockchain applications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What ?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Providing consumers, suppliers, manufacturers carriers, retailers, and regulators greater transparency on their goods </a:t>
            </a:r>
          </a:p>
          <a:p>
            <a:r>
              <a:rPr lang="en-US" dirty="0">
                <a:solidFill>
                  <a:schemeClr val="bg1"/>
                </a:solidFill>
              </a:rPr>
              <a:t>Increasing ability for key participants to meet new regulatory pressures.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How ?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Digitize the existing food safety process and product information on blockchain creating a single historical record.</a:t>
            </a:r>
          </a:p>
          <a:p>
            <a:r>
              <a:rPr lang="en-US" dirty="0">
                <a:solidFill>
                  <a:schemeClr val="bg1"/>
                </a:solidFill>
              </a:rPr>
              <a:t>Vendors create new levels of trust through information sharing.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065" y="304800"/>
            <a:ext cx="10363835" cy="1074420"/>
          </a:xfrm>
        </p:spPr>
        <p:txBody>
          <a:bodyPr/>
          <a:lstStyle/>
          <a:p>
            <a:r>
              <a:rPr lang="en-US" sz="4000" b="1" dirty="0">
                <a:solidFill>
                  <a:schemeClr val="bg1"/>
                </a:solidFill>
              </a:rPr>
              <a:t> problems in food supply chain</a:t>
            </a:r>
            <a:endParaRPr lang="en-IN" sz="40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895" y="1703070"/>
            <a:ext cx="10999470" cy="5154930"/>
          </a:xfrm>
        </p:spPr>
        <p:txBody>
          <a:bodyPr>
            <a:normAutofit lnSpcReduction="10000"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FOOD FRAUD</a:t>
            </a:r>
            <a:r>
              <a:rPr lang="en-US" sz="3200" dirty="0">
                <a:solidFill>
                  <a:schemeClr val="bg1"/>
                </a:solidFill>
              </a:rPr>
              <a:t> - substitution,tampering,misrepresentation.</a:t>
            </a:r>
          </a:p>
          <a:p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b="1" dirty="0">
                <a:solidFill>
                  <a:schemeClr val="bg1"/>
                </a:solidFill>
              </a:rPr>
              <a:t>ILLEGAL PRODUCTION</a:t>
            </a:r>
            <a:r>
              <a:rPr lang="en-US" sz="3200" dirty="0">
                <a:solidFill>
                  <a:schemeClr val="bg1"/>
                </a:solidFill>
              </a:rPr>
              <a:t> – particularly in seafood industry.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FOODBORNE ILLNESS </a:t>
            </a:r>
            <a:r>
              <a:rPr lang="en-US" sz="3200" dirty="0">
                <a:solidFill>
                  <a:schemeClr val="bg1"/>
                </a:solidFill>
              </a:rPr>
              <a:t>– 1 in 6 Americans fall sick from contaminated food and/or beverage per year.</a:t>
            </a:r>
          </a:p>
          <a:p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IN" sz="3200" b="1" dirty="0">
                <a:solidFill>
                  <a:schemeClr val="bg1"/>
                </a:solidFill>
              </a:rPr>
              <a:t>FOOD RECALL/LOSS</a:t>
            </a:r>
            <a:r>
              <a:rPr lang="en-IN" sz="3200" dirty="0">
                <a:solidFill>
                  <a:schemeClr val="bg1"/>
                </a:solidFill>
              </a:rPr>
              <a:t> – major fallout of abuse in food supply chain</a:t>
            </a:r>
            <a:r>
              <a:rPr lang="en-US" altLang="en-IN" sz="3200" dirty="0">
                <a:solidFill>
                  <a:schemeClr val="bg1"/>
                </a:solidFill>
              </a:rPr>
              <a:t>.</a:t>
            </a:r>
            <a:endParaRPr lang="en-IN" sz="3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3200" dirty="0">
                <a:solidFill>
                  <a:schemeClr val="bg1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730" y="125095"/>
            <a:ext cx="9906000" cy="1375410"/>
          </a:xfrm>
        </p:spPr>
        <p:txBody>
          <a:bodyPr/>
          <a:lstStyle/>
          <a:p>
            <a:r>
              <a:rPr lang="en-US" altLang="en-IN" b="1">
                <a:solidFill>
                  <a:schemeClr val="bg1"/>
                </a:solidFill>
              </a:rPr>
              <a:t>how blockchains can help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095" y="1142365"/>
            <a:ext cx="10220960" cy="5158105"/>
          </a:xfrm>
        </p:spPr>
        <p:txBody>
          <a:bodyPr>
            <a:noAutofit/>
          </a:bodyPr>
          <a:lstStyle/>
          <a:p>
            <a:r>
              <a:rPr lang="en-IN" sz="2800">
                <a:solidFill>
                  <a:schemeClr val="bg1"/>
                </a:solidFill>
              </a:rPr>
              <a:t>A blockchain is a shared, traceable and transparent ledger for record-keeping.</a:t>
            </a:r>
          </a:p>
          <a:p>
            <a:r>
              <a:rPr lang="en-IN" sz="2800">
                <a:solidFill>
                  <a:schemeClr val="bg1"/>
                </a:solidFill>
              </a:rPr>
              <a:t> Information is captured in each transaction along a supply chain, which is agreed on by the business network members, and made permanent once consensus is reached.</a:t>
            </a:r>
          </a:p>
          <a:p>
            <a:r>
              <a:rPr lang="en-IN" sz="2800">
                <a:solidFill>
                  <a:schemeClr val="bg1"/>
                </a:solidFill>
              </a:rPr>
              <a:t> Blockchains increase:</a:t>
            </a:r>
          </a:p>
          <a:p>
            <a:pPr marL="0" indent="0">
              <a:buNone/>
            </a:pPr>
            <a:r>
              <a:rPr lang="en-IN" sz="2800">
                <a:solidFill>
                  <a:schemeClr val="bg1"/>
                </a:solidFill>
              </a:rPr>
              <a:t>    1. TRANSPARENCY</a:t>
            </a:r>
          </a:p>
          <a:p>
            <a:pPr marL="0" indent="0">
              <a:buNone/>
            </a:pPr>
            <a:r>
              <a:rPr lang="en-IN" sz="2800">
                <a:solidFill>
                  <a:schemeClr val="bg1"/>
                </a:solidFill>
              </a:rPr>
              <a:t>    2. EFFICIENCY</a:t>
            </a:r>
          </a:p>
          <a:p>
            <a:pPr marL="0" indent="0">
              <a:buNone/>
            </a:pPr>
            <a:r>
              <a:rPr lang="en-IN" sz="2800">
                <a:solidFill>
                  <a:schemeClr val="bg1"/>
                </a:solidFill>
              </a:rPr>
              <a:t>    3. FOOD SAFETY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730" y="139700"/>
            <a:ext cx="9906000" cy="1298575"/>
          </a:xfrm>
        </p:spPr>
        <p:txBody>
          <a:bodyPr/>
          <a:lstStyle/>
          <a:p>
            <a:r>
              <a:rPr lang="en-US" b="1">
                <a:solidFill>
                  <a:schemeClr val="bg1"/>
                </a:solidFill>
              </a:rPr>
              <a:t>transparency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095" y="1232535"/>
            <a:ext cx="6163945" cy="5486400"/>
          </a:xfrm>
        </p:spPr>
        <p:txBody>
          <a:bodyPr>
            <a:normAutofit fontScale="90000"/>
          </a:bodyPr>
          <a:lstStyle/>
          <a:p>
            <a:r>
              <a:rPr lang="en-US" sz="2000">
                <a:solidFill>
                  <a:schemeClr val="bg1"/>
                </a:solidFill>
              </a:rPr>
              <a:t>Digital tracking and storage of all product information at all stages of supply chain</a:t>
            </a:r>
          </a:p>
          <a:p>
            <a:pPr marL="0" indent="0">
              <a:buNone/>
            </a:pPr>
            <a:r>
              <a:rPr lang="en-US" sz="2000">
                <a:solidFill>
                  <a:schemeClr val="bg1"/>
                </a:solidFill>
              </a:rPr>
              <a:t>   – Farm origination data, growing / raising conditions</a:t>
            </a:r>
          </a:p>
          <a:p>
            <a:pPr marL="0" indent="0">
              <a:buNone/>
            </a:pPr>
            <a:r>
              <a:rPr lang="en-US" sz="2000">
                <a:solidFill>
                  <a:schemeClr val="bg1"/>
                </a:solidFill>
              </a:rPr>
              <a:t>   – Factory/processing data</a:t>
            </a:r>
          </a:p>
          <a:p>
            <a:pPr marL="0" indent="0">
              <a:buNone/>
            </a:pPr>
            <a:r>
              <a:rPr lang="en-US" sz="2000">
                <a:solidFill>
                  <a:schemeClr val="bg1"/>
                </a:solidFill>
              </a:rPr>
              <a:t>  – Batch numbers</a:t>
            </a:r>
          </a:p>
          <a:p>
            <a:pPr marL="0" indent="0">
              <a:buNone/>
            </a:pPr>
            <a:r>
              <a:rPr lang="en-US" sz="2000">
                <a:solidFill>
                  <a:schemeClr val="bg1"/>
                </a:solidFill>
              </a:rPr>
              <a:t>  – Expiration dates</a:t>
            </a:r>
          </a:p>
          <a:p>
            <a:pPr marL="0" indent="0">
              <a:buNone/>
            </a:pPr>
            <a:r>
              <a:rPr lang="en-US" sz="2000">
                <a:solidFill>
                  <a:schemeClr val="bg1"/>
                </a:solidFill>
              </a:rPr>
              <a:t>  – Storage temperatures and conditions</a:t>
            </a:r>
          </a:p>
          <a:p>
            <a:pPr marL="0" indent="0">
              <a:buNone/>
            </a:pPr>
            <a:r>
              <a:rPr lang="en-US" sz="2000">
                <a:solidFill>
                  <a:schemeClr val="bg1"/>
                </a:solidFill>
              </a:rPr>
              <a:t>  – Shipping data</a:t>
            </a:r>
          </a:p>
          <a:p>
            <a:r>
              <a:rPr lang="en-US" sz="2000">
                <a:solidFill>
                  <a:schemeClr val="bg1"/>
                </a:solidFill>
              </a:rPr>
              <a:t> Strengthens safeguards related to food authenticity, thus avoiding food fraud</a:t>
            </a:r>
          </a:p>
          <a:p>
            <a:r>
              <a:rPr lang="en-US" sz="2000">
                <a:solidFill>
                  <a:schemeClr val="bg1"/>
                </a:solidFill>
              </a:rPr>
              <a:t> Consumer confidence increases because producers and any related parties are held accountable.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305675" y="1666240"/>
            <a:ext cx="4561205" cy="46297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730" y="169545"/>
            <a:ext cx="9906000" cy="93980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bg1"/>
                </a:solidFill>
              </a:rPr>
              <a:t>efficiecy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095" y="1109345"/>
            <a:ext cx="6033135" cy="5429250"/>
          </a:xfrm>
        </p:spPr>
        <p:txBody>
          <a:bodyPr>
            <a:no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Blockchains improve how food is tracked, transported, and sold</a:t>
            </a:r>
          </a:p>
          <a:p>
            <a:r>
              <a:rPr lang="en-US" sz="2800">
                <a:solidFill>
                  <a:schemeClr val="bg1"/>
                </a:solidFill>
              </a:rPr>
              <a:t> Inaccuracies caused by traditional paper tracking and manual inspection systems</a:t>
            </a:r>
          </a:p>
          <a:p>
            <a:r>
              <a:rPr lang="en-US" sz="2800">
                <a:solidFill>
                  <a:schemeClr val="bg1"/>
                </a:solidFill>
              </a:rPr>
              <a:t>Retailers can better manage product shelf-life</a:t>
            </a:r>
          </a:p>
          <a:p>
            <a:r>
              <a:rPr lang="en-US" sz="2800">
                <a:solidFill>
                  <a:schemeClr val="bg1"/>
                </a:solidFill>
              </a:rPr>
              <a:t>Streamlines distribution process</a:t>
            </a:r>
          </a:p>
          <a:p>
            <a:r>
              <a:rPr lang="en-US" sz="2800">
                <a:solidFill>
                  <a:schemeClr val="bg1"/>
                </a:solidFill>
              </a:rPr>
              <a:t>Cuts costs &amp; reduces food waste</a:t>
            </a:r>
          </a:p>
          <a:p>
            <a:pPr marL="0" indent="0">
              <a:buNone/>
            </a:pPr>
            <a:endParaRPr lang="en-US" sz="2800">
              <a:solidFill>
                <a:schemeClr val="bg1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74230" y="1453515"/>
            <a:ext cx="4934585" cy="46081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730" y="304165"/>
            <a:ext cx="9906000" cy="865505"/>
          </a:xfrm>
        </p:spPr>
        <p:txBody>
          <a:bodyPr/>
          <a:lstStyle/>
          <a:p>
            <a:r>
              <a:rPr lang="en-US" b="1">
                <a:solidFill>
                  <a:schemeClr val="bg1"/>
                </a:solidFill>
              </a:rPr>
              <a:t>food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095" y="1471295"/>
            <a:ext cx="6090285" cy="5217160"/>
          </a:xfrm>
        </p:spPr>
        <p:txBody>
          <a:bodyPr>
            <a:no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 Blockchains could create huge progress in food safety cutting costs and saving lives.</a:t>
            </a:r>
          </a:p>
          <a:p>
            <a:r>
              <a:rPr lang="en-US" sz="2800">
                <a:solidFill>
                  <a:schemeClr val="bg1"/>
                </a:solidFill>
              </a:rPr>
              <a:t> Fewer contamination incidents.</a:t>
            </a:r>
          </a:p>
          <a:p>
            <a:r>
              <a:rPr lang="en-US" sz="2800">
                <a:solidFill>
                  <a:schemeClr val="bg1"/>
                </a:solidFill>
              </a:rPr>
              <a:t> Faster detection of problems.</a:t>
            </a:r>
          </a:p>
          <a:p>
            <a:pPr marL="0" indent="0">
              <a:buNone/>
            </a:pPr>
            <a:r>
              <a:rPr lang="en-US" sz="2800">
                <a:solidFill>
                  <a:schemeClr val="bg1"/>
                </a:solidFill>
              </a:rPr>
              <a:t>  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444105" y="1169670"/>
            <a:ext cx="4366260" cy="43732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4765" y="6350"/>
            <a:ext cx="12207875" cy="69202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730" y="-22860"/>
            <a:ext cx="9906000" cy="991235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chemeClr val="bg1"/>
                </a:solidFill>
              </a:rPr>
              <a:t>Life of a mango … from tree to shelf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0" y="845820"/>
            <a:ext cx="12181205" cy="59912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730" y="169545"/>
            <a:ext cx="9906000" cy="1224915"/>
          </a:xfrm>
        </p:spPr>
        <p:txBody>
          <a:bodyPr/>
          <a:lstStyle/>
          <a:p>
            <a:r>
              <a:rPr lang="en-US" b="1">
                <a:solidFill>
                  <a:schemeClr val="bg1"/>
                </a:solidFill>
              </a:rPr>
              <a:t>looking ahead .. .. 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095" y="1143000"/>
            <a:ext cx="9906000" cy="4648200"/>
          </a:xfrm>
        </p:spPr>
        <p:txBody>
          <a:bodyPr>
            <a:no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Number of firms entering blockchain supply chain arena is steadily increasing.</a:t>
            </a:r>
          </a:p>
          <a:p>
            <a:r>
              <a:rPr lang="en-US" sz="2800">
                <a:solidFill>
                  <a:schemeClr val="bg1"/>
                </a:solidFill>
              </a:rPr>
              <a:t>Blockchains offer practical solutions to a currently impractical system.</a:t>
            </a:r>
          </a:p>
          <a:p>
            <a:r>
              <a:rPr lang="en-US" sz="2800">
                <a:solidFill>
                  <a:schemeClr val="bg1"/>
                </a:solidFill>
              </a:rPr>
              <a:t>At an inflection point: could arrive at a more transparent food system, depends on who has the leverage to impose their will…</a:t>
            </a:r>
          </a:p>
          <a:p>
            <a:r>
              <a:rPr lang="en-US" sz="2800">
                <a:solidFill>
                  <a:schemeClr val="bg1"/>
                </a:solidFill>
              </a:rPr>
              <a:t>Successful tracking systems offer better communication.</a:t>
            </a:r>
          </a:p>
          <a:p>
            <a:pPr marL="0" indent="0">
              <a:buNone/>
            </a:pPr>
            <a:r>
              <a:rPr lang="en-US" sz="2800">
                <a:solidFill>
                  <a:schemeClr val="bg1"/>
                </a:solidFill>
              </a:rPr>
              <a:t> 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730" y="199390"/>
            <a:ext cx="9906000" cy="688975"/>
          </a:xfrm>
        </p:spPr>
        <p:txBody>
          <a:bodyPr/>
          <a:lstStyle/>
          <a:p>
            <a:r>
              <a:rPr lang="en-US" b="1">
                <a:solidFill>
                  <a:schemeClr val="bg1"/>
                </a:solidFill>
              </a:rP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095" y="888365"/>
            <a:ext cx="9906000" cy="5575935"/>
          </a:xfrm>
        </p:spPr>
        <p:txBody>
          <a:bodyPr>
            <a:no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BUT…there are still many challenges that must be worked out.</a:t>
            </a:r>
          </a:p>
          <a:p>
            <a:pPr marL="0" indent="0">
              <a:buNone/>
            </a:pPr>
            <a:r>
              <a:rPr lang="en-US" sz="2800">
                <a:solidFill>
                  <a:schemeClr val="bg1"/>
                </a:solidFill>
              </a:rPr>
              <a:t>	- Authentication and Permissioning</a:t>
            </a:r>
          </a:p>
          <a:p>
            <a:pPr marL="0" indent="0">
              <a:buNone/>
            </a:pPr>
            <a:r>
              <a:rPr lang="en-US" sz="2800">
                <a:solidFill>
                  <a:schemeClr val="bg1"/>
                </a:solidFill>
              </a:rPr>
              <a:t>	- Payment systems</a:t>
            </a:r>
          </a:p>
          <a:p>
            <a:pPr marL="0" indent="0">
              <a:buNone/>
            </a:pPr>
            <a:r>
              <a:rPr lang="en-US" sz="2800">
                <a:solidFill>
                  <a:schemeClr val="bg1"/>
                </a:solidFill>
              </a:rPr>
              <a:t>	- Is the industry ready for more transparency?</a:t>
            </a:r>
          </a:p>
          <a:p>
            <a:pPr marL="0" indent="0">
              <a:buNone/>
            </a:pPr>
            <a:endParaRPr lang="en-US" sz="2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41095" y="2190115"/>
            <a:ext cx="9906000" cy="2723515"/>
          </a:xfrm>
        </p:spPr>
        <p:txBody>
          <a:bodyPr>
            <a:normAutofit/>
          </a:bodyPr>
          <a:lstStyle/>
          <a:p>
            <a:pPr algn="ctr"/>
            <a:r>
              <a:rPr lang="en-US" sz="8000">
                <a:solidFill>
                  <a:schemeClr val="bg1"/>
                </a:solidFill>
              </a:rPr>
              <a:t>thank you </a:t>
            </a:r>
            <a:br>
              <a:rPr lang="en-US" sz="8000">
                <a:solidFill>
                  <a:schemeClr val="bg1"/>
                </a:solidFill>
              </a:rPr>
            </a:br>
            <a:endParaRPr lang="en-US" sz="8000">
              <a:solidFill>
                <a:schemeClr val="bg1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0</TotalTime>
  <Words>562</Words>
  <Application>Microsoft Office PowerPoint</Application>
  <PresentationFormat>Widescreen</PresentationFormat>
  <Paragraphs>70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Times New Roman</vt:lpstr>
      <vt:lpstr>Tw Cen MT</vt:lpstr>
      <vt:lpstr>Circuit</vt:lpstr>
      <vt:lpstr>         FOOD SAFETY            USING  BLOCKCHAIN TECHNOLOGY</vt:lpstr>
      <vt:lpstr>what is blockchain ?</vt:lpstr>
      <vt:lpstr>Applications : </vt:lpstr>
      <vt:lpstr>PowerPoint Presentation</vt:lpstr>
      <vt:lpstr>Food safety </vt:lpstr>
      <vt:lpstr> problems in food supply chain</vt:lpstr>
      <vt:lpstr>how blockchains can help</vt:lpstr>
      <vt:lpstr>transparency</vt:lpstr>
      <vt:lpstr>efficiecy</vt:lpstr>
      <vt:lpstr>food safety</vt:lpstr>
      <vt:lpstr>PowerPoint Presentation</vt:lpstr>
      <vt:lpstr>Life of a mango … from tree to shelf</vt:lpstr>
      <vt:lpstr>looking ahead .. .. ..</vt:lpstr>
      <vt:lpstr>challenges</vt:lpstr>
      <vt:lpstr>thank you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SAFETY USING BLOCKCHAIN TECHNOLOGY</dc:title>
  <dc:creator>Sangeetha Mala</dc:creator>
  <cp:lastModifiedBy>Sangeetha Mala</cp:lastModifiedBy>
  <cp:revision>19</cp:revision>
  <dcterms:created xsi:type="dcterms:W3CDTF">2019-12-17T15:48:00Z</dcterms:created>
  <dcterms:modified xsi:type="dcterms:W3CDTF">2019-12-19T10:46:48Z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1033-11.2.0.9075</vt:lpwstr>
  </property>
</Properties>
</file>